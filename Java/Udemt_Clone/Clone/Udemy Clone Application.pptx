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1" r:id="rId3"/>
    <p:sldId id="268" r:id="rId4"/>
    <p:sldId id="269" r:id="rId5"/>
    <p:sldId id="272" r:id="rId6"/>
    <p:sldId id="273" r:id="rId7"/>
    <p:sldId id="274" r:id="rId8"/>
    <p:sldId id="266" r:id="rId9"/>
    <p:sldId id="270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6106" autoAdjust="0"/>
  </p:normalViewPr>
  <p:slideViewPr>
    <p:cSldViewPr snapToGrid="0">
      <p:cViewPr varScale="1">
        <p:scale>
          <a:sx n="90" d="100"/>
          <a:sy n="90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2E547D-1406-4A6F-8F93-E441204CE6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667F8A-B889-49B3-AC77-5DDF11A08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2889B-A0AC-4482-8592-5C96F2309420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AFD4F-C0E7-421C-AF77-6F9CC963C9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4AB9F-6726-4FB1-8769-82E23336CE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29299-61FF-4B93-ADA6-2FD5975D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7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EB223-FFC0-462A-A3B8-EAA7CE0F8CBD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49E9A-41F7-4779-A581-48A7C374A22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518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78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102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00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When conducting research, it is easy to go to one source: Wikipedia.  However, you need to include a variety of sources in your research. Consider the following sources: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Who can I interview to get more information on the topic?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Is the topic current and will it be relevant to my audience?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What articles, blogs, and magazines may have something related to my topic?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Is there a YouTube video on the topic? If so, what is it about?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What images can I find related to the topic?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961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Once you find your sources, you will want to evaluate your sources using the following questions: 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Author: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Who is the author?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Why should I believe what he or she has to say on the topic?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author seen as an expert on the topic? How do you know?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Current: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How current is the information in the source?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When was the source published?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information out-of-date?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Accuracy: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content accurate?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information presented objectively?  Do they share the pros and cons?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123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18B7-7F68-4CC9-8291-332587FA3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1D6BB-0446-49E8-8677-EADF274E9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AEE24-534A-40F1-99E4-00B7D5FD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4011-48FF-493D-8286-F62D3455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0EFCD-7E72-4882-86DC-2F371D7D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81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334F3-0709-471B-A734-C4B404F5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5016-AF78-4708-9C5F-21110C19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EA2D1-B124-4454-AFDC-EA60A14B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58000-F9D7-4A53-A6C5-E5E81542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22AAD-0D08-4F47-8D5A-EFE29017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04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6159-1280-4EE9-96D3-A56BD582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7A78-1874-488A-B215-7D763D338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BB3D1-3138-4B69-BF5D-4B1A2134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F90C5-31F4-4A22-AC00-3FB5ED29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F787E-B946-4091-ABC6-F9DB06BB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27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AA11-CC97-44E5-AE4D-808FD741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AB6CB-9460-4BCA-86C5-5F26357AB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AB0F6-401D-4BAF-A300-65AD684DF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61BBA-B185-4B45-B152-3D320E15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CD760-96AC-4821-A56B-0B805F2F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50665-D5B5-4D0B-B2F0-CB6B027C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06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47C3-C498-415A-A057-E19BCEB5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6677F-2712-4810-A3AA-56FA75386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1B54A-6775-4978-8E19-32694C9B5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A1303-B245-476D-BD02-A4E4A359F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E898F-5B79-46F1-89C1-F827997CC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417A4D-2EC9-4294-BFF4-EAE22EE1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50E317-3602-42A1-BB7F-0184072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CE2C97-E26C-4A8B-93A0-B01E2C7F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69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68FC-5755-447A-8D7F-9ADED3E99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50287-81AA-46CA-8CB3-53A7F831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1BA4AA-02C9-459E-9362-3DA60E3B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A2C8F-DBB4-4235-A67E-FB4039D9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39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ACAA5-F8E7-46E9-8BA7-A510948B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2DEE8-5654-4DCA-A8D0-D883E52B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179A5-4329-4057-9DEB-5B6E3AD1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79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DA80-336B-4DBB-91A1-6E3E4B3C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0D456-F0A3-4789-A310-A23F01B2E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A8B05-7071-44D4-80F7-3E8191C9A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8562E-E6F1-449B-909C-98426BA8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47A9A-FB08-407B-A73A-0AC513F0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F841F-796A-4FE6-B5E0-C8A49867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8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474D-6779-4C23-BD3C-82F5DC3E3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1096C-E430-49C7-A801-21C0BD95DC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4828F-334F-4A50-850D-10684F245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293F4-2B70-4BB5-A982-219E4133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9A86F-B378-4759-B50E-2E0BFAE6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95BDC-FC58-4638-AA59-A3DA9931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83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7D73-EDDA-49A6-BA12-1CA980DA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9B82E-4CA1-47A5-B133-FBD4D8A83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A267F-D142-4D04-9F03-6CB099E6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127CA-154D-4E90-B776-A2EE71F7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F0BA5-F4EE-4282-B111-76B869BE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40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6E92A-52E0-4710-BDEF-0A1534685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240E1-5EB0-47FD-AA37-BF945D136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14243-F1E4-487A-ABEC-30516A01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58244-98FD-472D-AB8C-075F71C1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98D5A-820D-4519-967F-33320971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4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80BC3B-525F-4038-9330-0729879F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29186-93D7-46FA-AE02-36D94260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F1CEB-0530-4996-BAEF-2E6A04DAD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CFF3D-7353-4B4D-9E75-FA835E06E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2C8D6-8B0B-4982-9EE4-AA823C69C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60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AC0E-7195-4ACF-AA0A-5E2923A98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5" y="4522156"/>
            <a:ext cx="5609222" cy="1363215"/>
          </a:xfrm>
        </p:spPr>
        <p:txBody>
          <a:bodyPr anchor="t">
            <a:normAutofit/>
          </a:bodyPr>
          <a:lstStyle/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sz="4000" kern="1200" dirty="0">
                <a:solidFill>
                  <a:srgbClr val="FFFFFF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Udemy Clone Application</a:t>
            </a:r>
            <a:endParaRPr lang="en-IN" sz="4000" dirty="0"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253EE-4FA2-4843-BE27-C7D5B08FF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6" y="3945418"/>
            <a:ext cx="5609221" cy="593932"/>
          </a:xfrm>
        </p:spPr>
        <p:txBody>
          <a:bodyPr anchor="b">
            <a:normAutofit/>
          </a:bodyPr>
          <a:lstStyle/>
          <a:p>
            <a:pPr algn="l"/>
            <a:r>
              <a:rPr lang="en-IN" sz="1800" dirty="0"/>
              <a:t>A Personalized Learning Platform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BA87361-6D30-46E4-834B-719CF59055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8332"/>
            <a:ext cx="3564638" cy="4569668"/>
          </a:xfrm>
          <a:custGeom>
            <a:avLst/>
            <a:gdLst>
              <a:gd name="connsiteX0" fmla="*/ 640080 w 3564638"/>
              <a:gd name="connsiteY0" fmla="*/ 0 h 4569668"/>
              <a:gd name="connsiteX1" fmla="*/ 3564638 w 3564638"/>
              <a:gd name="connsiteY1" fmla="*/ 2924558 h 4569668"/>
              <a:gd name="connsiteX2" fmla="*/ 3065170 w 3564638"/>
              <a:gd name="connsiteY2" fmla="*/ 4559707 h 4569668"/>
              <a:gd name="connsiteX3" fmla="*/ 3057720 w 3564638"/>
              <a:gd name="connsiteY3" fmla="*/ 4569668 h 4569668"/>
              <a:gd name="connsiteX4" fmla="*/ 0 w 3564638"/>
              <a:gd name="connsiteY4" fmla="*/ 4569668 h 4569668"/>
              <a:gd name="connsiteX5" fmla="*/ 0 w 3564638"/>
              <a:gd name="connsiteY5" fmla="*/ 72448 h 4569668"/>
              <a:gd name="connsiteX6" fmla="*/ 50679 w 3564638"/>
              <a:gd name="connsiteY6" fmla="*/ 59417 h 4569668"/>
              <a:gd name="connsiteX7" fmla="*/ 640080 w 3564638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89DB1C0-FEEC-4CB6-88B2-F9C5562E09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574" y="0"/>
            <a:ext cx="3913632" cy="2285234"/>
          </a:xfrm>
          <a:custGeom>
            <a:avLst/>
            <a:gdLst>
              <a:gd name="connsiteX0" fmla="*/ 29691 w 3913632"/>
              <a:gd name="connsiteY0" fmla="*/ 0 h 2285234"/>
              <a:gd name="connsiteX1" fmla="*/ 3883942 w 3913632"/>
              <a:gd name="connsiteY1" fmla="*/ 0 h 2285234"/>
              <a:gd name="connsiteX2" fmla="*/ 3903529 w 3913632"/>
              <a:gd name="connsiteY2" fmla="*/ 128345 h 2285234"/>
              <a:gd name="connsiteX3" fmla="*/ 3913632 w 3913632"/>
              <a:gd name="connsiteY3" fmla="*/ 328418 h 2285234"/>
              <a:gd name="connsiteX4" fmla="*/ 1956816 w 3913632"/>
              <a:gd name="connsiteY4" fmla="*/ 2285234 h 2285234"/>
              <a:gd name="connsiteX5" fmla="*/ 0 w 3913632"/>
              <a:gd name="connsiteY5" fmla="*/ 328418 h 2285234"/>
              <a:gd name="connsiteX6" fmla="*/ 10103 w 3913632"/>
              <a:gd name="connsiteY6" fmla="*/ 128345 h 228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Open Book">
            <a:extLst>
              <a:ext uri="{FF2B5EF4-FFF2-40B4-BE49-F238E27FC236}">
                <a16:creationId xmlns:a16="http://schemas.microsoft.com/office/drawing/2014/main" id="{93E427C7-0218-4592-82DA-2431E4BF8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2385250" y="164573"/>
            <a:ext cx="1636279" cy="1636279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117" y="615908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8163D1C-ED91-4D5F-A33B-CF1256B270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7709" y="780500"/>
            <a:ext cx="2852928" cy="28529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phic 4" descr="Chat">
            <a:extLst>
              <a:ext uri="{FF2B5EF4-FFF2-40B4-BE49-F238E27FC236}">
                <a16:creationId xmlns:a16="http://schemas.microsoft.com/office/drawing/2014/main" id="{EB71843F-0A0B-4317-B205-4B0A0B97C0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980302" y="1293093"/>
            <a:ext cx="1827742" cy="1827742"/>
          </a:xfrm>
          <a:prstGeom prst="rect">
            <a:avLst/>
          </a:prstGeom>
        </p:spPr>
      </p:pic>
      <p:pic>
        <p:nvPicPr>
          <p:cNvPr id="7" name="Graphic 6" descr="Blackboard">
            <a:extLst>
              <a:ext uri="{FF2B5EF4-FFF2-40B4-BE49-F238E27FC236}">
                <a16:creationId xmlns:a16="http://schemas.microsoft.com/office/drawing/2014/main" id="{2696A1A4-8E43-47F6-A6DC-A9ADAB053D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30924" y="3621724"/>
            <a:ext cx="2594886" cy="2594886"/>
          </a:xfrm>
          <a:prstGeom prst="rect">
            <a:avLst/>
          </a:prstGeom>
        </p:spPr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1103AB2-C090-458F-B752-294F23AFA8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1"/>
            <a:ext cx="3439432" cy="3785157"/>
          </a:xfrm>
          <a:custGeom>
            <a:avLst/>
            <a:gdLst>
              <a:gd name="connsiteX0" fmla="*/ 198262 w 3439432"/>
              <a:gd name="connsiteY0" fmla="*/ 0 h 3785157"/>
              <a:gd name="connsiteX1" fmla="*/ 3439432 w 3439432"/>
              <a:gd name="connsiteY1" fmla="*/ 0 h 3785157"/>
              <a:gd name="connsiteX2" fmla="*/ 3439432 w 3439432"/>
              <a:gd name="connsiteY2" fmla="*/ 3697836 h 3785157"/>
              <a:gd name="connsiteX3" fmla="*/ 3318024 w 3439432"/>
              <a:gd name="connsiteY3" fmla="*/ 3729054 h 3785157"/>
              <a:gd name="connsiteX4" fmla="*/ 2761488 w 3439432"/>
              <a:gd name="connsiteY4" fmla="*/ 3785157 h 3785157"/>
              <a:gd name="connsiteX5" fmla="*/ 0 w 3439432"/>
              <a:gd name="connsiteY5" fmla="*/ 1023669 h 3785157"/>
              <a:gd name="connsiteX6" fmla="*/ 124151 w 3439432"/>
              <a:gd name="connsiteY6" fmla="*/ 202487 h 37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785157">
                <a:moveTo>
                  <a:pt x="198262" y="0"/>
                </a:moveTo>
                <a:lnTo>
                  <a:pt x="3439432" y="0"/>
                </a:lnTo>
                <a:lnTo>
                  <a:pt x="3439432" y="3697836"/>
                </a:lnTo>
                <a:lnTo>
                  <a:pt x="3318024" y="3729054"/>
                </a:lnTo>
                <a:cubicBezTo>
                  <a:pt x="3138258" y="3765839"/>
                  <a:pt x="2952129" y="3785157"/>
                  <a:pt x="2761488" y="3785157"/>
                </a:cubicBezTo>
                <a:cubicBezTo>
                  <a:pt x="1236360" y="3785157"/>
                  <a:pt x="0" y="2548797"/>
                  <a:pt x="0" y="1023669"/>
                </a:cubicBezTo>
                <a:cubicBezTo>
                  <a:pt x="0" y="737708"/>
                  <a:pt x="43466" y="461898"/>
                  <a:pt x="124151" y="20248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3D471F3-782A-4BA1-9CAB-FF5CDF0A75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8761" y="-4332"/>
            <a:ext cx="3273238" cy="3618965"/>
          </a:xfrm>
          <a:custGeom>
            <a:avLst/>
            <a:gdLst>
              <a:gd name="connsiteX0" fmla="*/ 210437 w 3273238"/>
              <a:gd name="connsiteY0" fmla="*/ 0 h 3618965"/>
              <a:gd name="connsiteX1" fmla="*/ 3273238 w 3273238"/>
              <a:gd name="connsiteY1" fmla="*/ 0 h 3618965"/>
              <a:gd name="connsiteX2" fmla="*/ 3273238 w 3273238"/>
              <a:gd name="connsiteY2" fmla="*/ 3526409 h 3618965"/>
              <a:gd name="connsiteX3" fmla="*/ 3118338 w 3273238"/>
              <a:gd name="connsiteY3" fmla="*/ 3566238 h 3618965"/>
              <a:gd name="connsiteX4" fmla="*/ 2595295 w 3273238"/>
              <a:gd name="connsiteY4" fmla="*/ 3618965 h 3618965"/>
              <a:gd name="connsiteX5" fmla="*/ 0 w 3273238"/>
              <a:gd name="connsiteY5" fmla="*/ 1023670 h 3618965"/>
              <a:gd name="connsiteX6" fmla="*/ 203951 w 3273238"/>
              <a:gd name="connsiteY6" fmla="*/ 13464 h 3618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3238" h="3618965">
                <a:moveTo>
                  <a:pt x="210437" y="0"/>
                </a:moveTo>
                <a:lnTo>
                  <a:pt x="3273238" y="0"/>
                </a:lnTo>
                <a:lnTo>
                  <a:pt x="3273238" y="3526409"/>
                </a:lnTo>
                <a:lnTo>
                  <a:pt x="3118338" y="3566238"/>
                </a:lnTo>
                <a:cubicBezTo>
                  <a:pt x="2949390" y="3600810"/>
                  <a:pt x="2774463" y="3618965"/>
                  <a:pt x="2595295" y="3618965"/>
                </a:cubicBezTo>
                <a:cubicBezTo>
                  <a:pt x="1161953" y="3618965"/>
                  <a:pt x="0" y="2457012"/>
                  <a:pt x="0" y="1023670"/>
                </a:cubicBezTo>
                <a:cubicBezTo>
                  <a:pt x="0" y="665335"/>
                  <a:pt x="72622" y="323961"/>
                  <a:pt x="203951" y="1346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phic 10" descr="Books on Shelf">
            <a:extLst>
              <a:ext uri="{FF2B5EF4-FFF2-40B4-BE49-F238E27FC236}">
                <a16:creationId xmlns:a16="http://schemas.microsoft.com/office/drawing/2014/main" id="{18A239E6-97C0-4A74-8E7A-C9FD39A8C9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9725024" y="327889"/>
            <a:ext cx="2260711" cy="22607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BBC9C1-9C10-20EC-A889-0BC0254EAB66}"/>
              </a:ext>
            </a:extLst>
          </p:cNvPr>
          <p:cNvSpPr txBox="1"/>
          <p:nvPr/>
        </p:nvSpPr>
        <p:spPr>
          <a:xfrm>
            <a:off x="4654294" y="5321609"/>
            <a:ext cx="59184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Name: Jenil Girish Rathod</a:t>
            </a:r>
          </a:p>
          <a:p>
            <a:r>
              <a:rPr lang="en-IN" sz="2000" dirty="0"/>
              <a:t>Roll No.: T212009		Div: B		Class: T.E.</a:t>
            </a:r>
          </a:p>
          <a:p>
            <a:r>
              <a:rPr lang="en-IN" sz="2000" dirty="0"/>
              <a:t>College: Zeal College Of Engineering and Research </a:t>
            </a:r>
          </a:p>
        </p:txBody>
      </p:sp>
    </p:spTree>
    <p:extLst>
      <p:ext uri="{BB962C8B-B14F-4D97-AF65-F5344CB8AC3E}">
        <p14:creationId xmlns:p14="http://schemas.microsoft.com/office/powerpoint/2010/main" val="322398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D3FF9-E203-1BA4-8870-AFBE83B43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Introduction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50140-EBD5-0AC8-5C48-863F0AF22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292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FE627FF8-C401-3849-BA88-E0B44C496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7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4F50A2E8-681B-086C-307B-14604D23A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F82ABE79-71E9-18F7-BAD6-417E5D9A3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445776"/>
            <a:ext cx="92456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Welcome to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Udemy Clone Application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personal learning where users can: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 and create accounts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and access courses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 and purchase courses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reviews for completed courses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and manage purchased courses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9B5E05D4-52B7-C2CE-8C05-B0BAEFDDF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3F057924-E2A4-E07D-F464-A58C50106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10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824B-4279-4D47-92DD-71F5353F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82273"/>
            <a:ext cx="10515600" cy="1325563"/>
          </a:xfrm>
        </p:spPr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Features of the Application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DFE245-CBB2-6BF1-298B-2E160A6EED42}"/>
              </a:ext>
            </a:extLst>
          </p:cNvPr>
          <p:cNvSpPr txBox="1"/>
          <p:nvPr/>
        </p:nvSpPr>
        <p:spPr>
          <a:xfrm>
            <a:off x="1092200" y="1507836"/>
            <a:ext cx="10515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4000" dirty="0"/>
              <a:t> User Registration &amp; Login</a:t>
            </a:r>
          </a:p>
          <a:p>
            <a:pPr>
              <a:buFont typeface="+mj-lt"/>
              <a:buAutoNum type="arabicPeriod"/>
            </a:pPr>
            <a:r>
              <a:rPr lang="en-US" sz="4000" dirty="0"/>
              <a:t> Course Viewing &amp; Purchase</a:t>
            </a:r>
          </a:p>
          <a:p>
            <a:pPr>
              <a:buFont typeface="+mj-lt"/>
              <a:buAutoNum type="arabicPeriod"/>
            </a:pPr>
            <a:r>
              <a:rPr lang="en-US" sz="4000" dirty="0"/>
              <a:t> Review and Ratings</a:t>
            </a:r>
          </a:p>
          <a:p>
            <a:pPr>
              <a:buFont typeface="+mj-lt"/>
              <a:buAutoNum type="arabicPeriod"/>
            </a:pPr>
            <a:r>
              <a:rPr lang="en-US" sz="4000" dirty="0"/>
              <a:t> Secure Payment Options</a:t>
            </a:r>
          </a:p>
          <a:p>
            <a:pPr>
              <a:buFont typeface="+mj-lt"/>
              <a:buAutoNum type="arabicPeriod"/>
            </a:pPr>
            <a:r>
              <a:rPr lang="en-US" sz="4000" dirty="0"/>
              <a:t> User Dashboard</a:t>
            </a:r>
          </a:p>
        </p:txBody>
      </p:sp>
    </p:spTree>
    <p:extLst>
      <p:ext uri="{BB962C8B-B14F-4D97-AF65-F5344CB8AC3E}">
        <p14:creationId xmlns:p14="http://schemas.microsoft.com/office/powerpoint/2010/main" val="153491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BD0A42-B011-4DBF-B5CD-6718A97E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925"/>
            <a:ext cx="10515600" cy="1325563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Technologies Used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AC280F-8498-8AF3-B03D-7F41AA73708C}"/>
              </a:ext>
            </a:extLst>
          </p:cNvPr>
          <p:cNvSpPr txBox="1"/>
          <p:nvPr/>
        </p:nvSpPr>
        <p:spPr>
          <a:xfrm>
            <a:off x="1422400" y="1614488"/>
            <a:ext cx="9347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Programming Language:</a:t>
            </a:r>
            <a:r>
              <a:rPr lang="en-IN" sz="2400" dirty="0"/>
              <a:t> Java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Database Management:</a:t>
            </a:r>
            <a:r>
              <a:rPr lang="en-IN" sz="2400" dirty="0"/>
              <a:t> MySQL, JDBC (Java Database Connectivity)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User Input Handling:</a:t>
            </a:r>
            <a:r>
              <a:rPr lang="en-IN" sz="2400" dirty="0"/>
              <a:t> Scanner Class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Object-Oriented Concepts:</a:t>
            </a:r>
            <a:endParaRPr lang="en-I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Encapsulation, Inheritance, Polymorphism, Abstraction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Design Patterns:</a:t>
            </a:r>
            <a:endParaRPr lang="en-I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Singleton Pattern (Database Connection)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Factory Pattern (Can be applied for object creation)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Security Considerations:</a:t>
            </a:r>
            <a:endParaRPr lang="en-I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Password </a:t>
            </a:r>
            <a:r>
              <a:rPr lang="en-IN" sz="2400" dirty="0" smtClean="0"/>
              <a:t>for authentication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27580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AB9E9-89D0-00FE-91CE-1741B2ADC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Code Structure Overview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B504B8-5627-ADD1-8F3A-B6893753DD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1219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Class: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UdemyCloneApp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Classes: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(Handles registration, login, and user data)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Course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(Displays courses and manages purchases)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Review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(Handles reviews and ratings)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Database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(Stores data)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PaymentProcessor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(Handles payments)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358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F1604-0ED6-763B-3BB8-02DD9E8D1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65125"/>
            <a:ext cx="10515600" cy="1325563"/>
          </a:xfrm>
        </p:spPr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Class Structure Overview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7E9658-10F2-C9C7-95B3-B683155234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5100" y="1690688"/>
            <a:ext cx="6096000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UdemyCloneApp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(Main Class)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Manages the main menu and user interactions.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user registration, login, and course browsing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UserBase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(Abstract Class)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Defines base attributes for users.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common user-related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User (Extends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UserBase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user details (ID, name, email, password).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Manages registration, login, and course tracking.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Interacts with 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class for user authentication.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Course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course details (ID, title, domain, description, price, rating).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course information.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course purchases.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8A41B-F5CE-5BAF-FB39-B32430AC7253}"/>
              </a:ext>
            </a:extLst>
          </p:cNvPr>
          <p:cNvSpPr txBox="1"/>
          <p:nvPr/>
        </p:nvSpPr>
        <p:spPr>
          <a:xfrm>
            <a:off x="6096000" y="1690688"/>
            <a:ext cx="609600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Review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users to add and view course reviews.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review details in the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Payment (Interface)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Defines the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processPayment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method for different payment types.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PaymentProcessor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(Implements Payment)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course payment transactions.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Manages payment methods and discounts.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Discount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Retrieves applicable discount values from the database.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Validates coupon codes.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9. Database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database connections and SQL queries.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methods for inserting, updating, selecting, and deleting records.</a:t>
            </a:r>
          </a:p>
        </p:txBody>
      </p:sp>
    </p:spTree>
    <p:extLst>
      <p:ext uri="{BB962C8B-B14F-4D97-AF65-F5344CB8AC3E}">
        <p14:creationId xmlns:p14="http://schemas.microsoft.com/office/powerpoint/2010/main" val="3305531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D7B7A-57BC-9104-9903-EFA665C4F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D7FC955-4062-0DDB-FC5B-1A3038D77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516"/>
          <a:stretch/>
        </p:blipFill>
        <p:spPr>
          <a:xfrm>
            <a:off x="0" y="1"/>
            <a:ext cx="12192000" cy="6858000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A812DA-B206-74BE-F3B2-9DB1AD7445C4}"/>
              </a:ext>
            </a:extLst>
          </p:cNvPr>
          <p:cNvSpPr txBox="1"/>
          <p:nvPr/>
        </p:nvSpPr>
        <p:spPr>
          <a:xfrm>
            <a:off x="6400800" y="381575"/>
            <a:ext cx="464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Algerian" panose="04020705040A02060702" pitchFamily="82" charset="0"/>
              </a:rPr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4263030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731205C-F025-D909-9A32-27A4C820C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42C8342-E07B-7E2F-9EE2-8EF6968EF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6"/>
            <a:ext cx="12192000" cy="6821714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011E04F-2C32-70E1-F9ED-1ABC7F27D97F}"/>
              </a:ext>
            </a:extLst>
          </p:cNvPr>
          <p:cNvSpPr txBox="1"/>
          <p:nvPr/>
        </p:nvSpPr>
        <p:spPr>
          <a:xfrm>
            <a:off x="228600" y="643185"/>
            <a:ext cx="35589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Algerian" panose="04020705040A02060702" pitchFamily="82" charset="0"/>
              </a:rPr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381659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EA5963-A32B-768D-0486-7815996B0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Future Enhancements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AD1A376-20A8-0140-B163-6307B4575A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9550" y="1690688"/>
            <a:ext cx="11487150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Integration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Expand to mobile platforms for better accessibility.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Notifications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Push notifications for updates and promotions.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Recommendations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Personalized course suggestions.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Payment Options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 for multiple payment methods and cryptocurrencies.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Classes &amp; Webinars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Real-time streaming of classes and sessions.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Gamification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Badges, achievements, and leaderboards.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Support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Global reach with multi-language options.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Learning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Forums, groups, and peer interaction.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Subscription Model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Unlimited access via subscription.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AI-assisted Course Creation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Tools for instructors to generate content.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630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D80F-1D52-AF44-48DC-7CD9278CB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E69ED0-A8AD-D51E-C206-6261D51F4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90039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4781794_win32_fixed.potx" id="{FFA6945E-0D2E-49A3-B8AE-0157B47B7617}" vid="{3D53E5D5-FE42-40E3-89B4-70F55FAC32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Research presentation</Template>
  <TotalTime>69</TotalTime>
  <Words>699</Words>
  <Application>Microsoft Office PowerPoint</Application>
  <PresentationFormat>Widescreen</PresentationFormat>
  <Paragraphs>109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Algerian</vt:lpstr>
      <vt:lpstr>Arial</vt:lpstr>
      <vt:lpstr>Arial Unicode MS</vt:lpstr>
      <vt:lpstr>Calibri</vt:lpstr>
      <vt:lpstr>Calibri Light</vt:lpstr>
      <vt:lpstr>Franklin Gothic Book</vt:lpstr>
      <vt:lpstr>Segoe UI</vt:lpstr>
      <vt:lpstr>Office Theme</vt:lpstr>
      <vt:lpstr>Udemy Clone Application</vt:lpstr>
      <vt:lpstr>Introduction</vt:lpstr>
      <vt:lpstr>Features of the Application</vt:lpstr>
      <vt:lpstr>Technologies Used</vt:lpstr>
      <vt:lpstr>Code Structure Overview</vt:lpstr>
      <vt:lpstr>Class Structure Overview</vt:lpstr>
      <vt:lpstr>PowerPoint Presentation</vt:lpstr>
      <vt:lpstr>PowerPoint Presentation</vt:lpstr>
      <vt:lpstr>Future Enhancements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Udemy Clone Application</dc:title>
  <dc:creator>Jenil Rathod</dc:creator>
  <cp:lastModifiedBy>IFC-51</cp:lastModifiedBy>
  <cp:revision>3</cp:revision>
  <dcterms:created xsi:type="dcterms:W3CDTF">2025-01-30T17:24:55Z</dcterms:created>
  <dcterms:modified xsi:type="dcterms:W3CDTF">2025-01-31T04:42:21Z</dcterms:modified>
</cp:coreProperties>
</file>